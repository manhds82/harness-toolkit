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63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Harness is a governance layer for AI coding agents: keep the speed, regain security, control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2ADCA-3E86-94BC-A6A1-D2405715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D5EB5-14CA-A4BB-17C7-C0774BB69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4EDF5-D78E-D700-1861-06133E771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10DBB-B67F-C033-5B46-0CCE88DAC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33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0F043-FA1F-8361-A0F5-FDBB9782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1A351-AF81-1D1C-BC56-7B121DB96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1BF84-51D4-6CA0-32B2-F68D1B9AC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3274B-E22A-2502-07F4-95C1C1465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90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4AF4-B91E-1DD3-8008-564504DF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36EFA-2E86-A30E-F660-F209AB436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AB0CB-AA6E-C89B-2BE0-BB18836D0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15124-E822-1434-DCFA-5AB91F99E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83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EF80-C0ED-BD72-A555-94D89BA1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1C1FD-8BCA-B32A-0E86-ECF60E372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461A8-882A-C17F-E413-4F341D0FE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08E37-6F64-FAF4-E20A-7467BB658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83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C935-8EAD-9829-0C5C-F6FAB833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630F9-71FD-0FD5-5E67-6D83FA3B6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B6A0D-293B-09CC-89FA-279984480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99406-42CE-BB87-6B44-CEB679833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57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849B-396B-6BA9-99B5-8AF6DECD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F14BE-D77F-EBE3-3700-86CEDB743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B632B-92F9-7733-A075-980A27048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DD5EF-DDF1-32C9-A800-32E95AA0E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2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C11F-B62B-B35F-08F0-BA45F24C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81FC-9C7E-945D-47C9-C263900D6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C00AD-C347-E9FC-CBF6-B878F64C3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F0BE1-B46E-807F-C1EE-9ED9C8E02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84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ECEC1-191B-8E91-A9AE-A4F8A9D9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F0183-36D6-E1AF-8919-B3A763625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33086-1828-361E-445F-54B9519F7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20312-8557-505D-1FE4-03CF20DA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88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884D-25F1-E1BB-D155-390BBF18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EB3F5-F59A-CB6E-7163-94A1C51E3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3CEF2-D664-738F-C168-19C12D920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A5B6D-B3FB-DBDB-205E-17B038C72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38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2005-2375-E533-4188-FEE3F8D1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5502C-5358-A0BF-8B4A-94CE7158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52F0D-35AE-92EF-8843-E1A6A13B8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E89FC-930C-785C-223E-2C100F840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23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6F1C-0ECB-1E84-C950-6E93F2EE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D25CB-080B-FAF6-1528-89DC315EC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B767E-14BD-D352-88A5-3A9637850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05F08-BB67-FCD5-9B8A-C210C8ABE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626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D87A-B61F-8C06-85C9-9F6858D2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258C9-AD5A-85D0-BFBE-9FCA08B9B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FB61E-0D9F-6388-FB1A-D8F7145CE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0F83A-BF13-7EB7-6F62-4DACE1169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5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5C6F-584C-6ADC-8170-2EBE83ABA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B5784-E0D8-9AD3-2D60-10FACEB05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154AB-6646-0BFE-D757-1C02326FE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92578-A7E1-A362-1B51-C19E00966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937760" cy="4937760"/>
          </a:xfrm>
          <a:prstGeom prst="ellipse">
            <a:avLst/>
          </a:prstGeom>
          <a:solidFill>
            <a:srgbClr val="1621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46920" y="-685800"/>
            <a:ext cx="3200400" cy="3200400"/>
          </a:xfrm>
          <a:prstGeom prst="ellipse">
            <a:avLst/>
          </a:prstGeom>
          <a:solidFill>
            <a:srgbClr val="0E1524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378440" y="45720"/>
            <a:ext cx="1737360" cy="17373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378440" y="45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FOR AI-ASSISTED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Harness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faster with AI coding agents — without giving up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control, or visibility.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1995221" cy="420624"/>
          </a:xfrm>
          <a:prstGeom prst="roundRect">
            <a:avLst>
              <a:gd name="adj" fmla="val 50000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19952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default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55341" y="4434840"/>
            <a:ext cx="1726387" cy="420624"/>
          </a:xfrm>
          <a:prstGeom prst="roundRect">
            <a:avLst>
              <a:gd name="adj" fmla="val 50000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955341" y="4434840"/>
            <a:ext cx="1726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minutes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64608" y="4434840"/>
            <a:ext cx="1815998" cy="420624"/>
          </a:xfrm>
          <a:prstGeom prst="roundRect">
            <a:avLst>
              <a:gd name="adj" fmla="val 50000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4434840"/>
            <a:ext cx="1815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control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63486" y="4434840"/>
            <a:ext cx="2353666" cy="420624"/>
          </a:xfrm>
          <a:prstGeom prst="roundRect">
            <a:avLst>
              <a:gd name="adj" fmla="val 50000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863486" y="4434840"/>
            <a:ext cx="23536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visibility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Sy Manh  ·  standard-governance harness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powerful. Ungoverned, they are a liability.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&amp; unauthorized 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414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delete files, force-push or drop a table — nothing stops it by default.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12280" y="2057400"/>
            <a:ext cx="640080" cy="64008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122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352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35240" y="24414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Instruction-overrides, jailbreaks and encoded payloads slip straight into the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token spend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4988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unknown until the invoice — no per-project, per-member breakdown.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74904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812280" y="4114800"/>
            <a:ext cx="640080" cy="64008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122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3524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35240" y="44988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ran what, when and why? Without a record there is no accountability.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bolt AI onto their workflow with zero guardrails — and hope for the best.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layer that wraps your AI coding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Harness adds </a:t>
            </a: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policy, evaluation and audit</a:t>
            </a:r>
            <a:r>
              <a:rPr lang="en-US" sz="16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around your agent — enforced by lifecycle hooks, driven by editable config, and recorded in an immutable ledger.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beat conventions in prose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lives in data, not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17136"/>
            <a:ext cx="365760" cy="36576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for dangerous 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84064"/>
            <a:ext cx="365760" cy="365760"/>
          </a:xfrm>
          <a:prstGeom prst="ellipse">
            <a:avLst/>
          </a:prstGeom>
          <a:solidFill>
            <a:srgbClr val="ECFD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5084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is enforced where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73736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995160" y="2029968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99516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scan, record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173736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0149840" y="2029968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149840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9828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9828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like a package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41148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995160" y="4407408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995160" y="4407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43600" y="5257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observability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98280" y="41148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10149840" y="4407408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10149840" y="4407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98280" y="5257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9828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visibility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enforced at the point of 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61848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side-effect passes through policy before it happens — and is recorded after.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204825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91056" y="201168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guard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91056" y="2322576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destructive commands and high-risk tools by policy. Deny-by-default; 24 hardened patterns for RCE, disk-wipe and exfiltration.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766560" y="204825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766560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34656" y="201168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scanner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34656" y="2322576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instruction-override, role-jailbreak and encoded payloads before they reach the model.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22960" y="392277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91056" y="388620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4197096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API keys and credentials leaking into prompts or output.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61188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766560" y="3922776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4656" y="388620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hash-chain ledger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34656" y="4197096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appended to a tamper-evident audit trail — identity + input/output hash.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CFDF9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shows WHAT triggered it and WHY it was stopped — not just a red mark.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you install like a package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61848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governed in an afternoon — Windows and macOS/Linux alike.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988820" y="233172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9888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387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bundle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593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drops in hooks, policies, the agent fleet and schemas — a versioned, hash-verified bundle.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42232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16552" y="19659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765292" y="233172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65292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16552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9432" y="35387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your Portal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0872" y="39593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config file plus a per-project key. No servers to stand up on your side.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18704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93024" y="19659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9541764" y="233172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541764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193024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75904" y="35387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syncs itself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67344" y="39593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re-derived from your session transcripts and pushed automatically — self-healing, no babysitting.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ECFDF9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6868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data is rebuilt from the transcripts every sync — a missed session-end hook can no longer lose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 for every project, member &amp; provider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61848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Portal turns raw telemetry into answers you can act 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91056" y="197510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&amp; multi-member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91056" y="228600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teams and projects; admin and member views with role-based access.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34656" y="197510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connections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34656" y="228600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multiple AI providers per project; keys encrypted at rest (BYOK).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685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91056" y="364845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3959352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redacted offending prompt and a plain-language reason for every block.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410712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766560" y="3685032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3685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4656" y="364845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34656" y="3959352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queryable mirror of the hash-chained ledger — filter, sort, drill in.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metric, three windows: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23360" y="4828032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023360" y="4828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4828032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432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537960" y="4828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0" y="4828032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052560" y="4828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CFDF9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cost, prompts and blocks — by today, this month and all-time — at a glance.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token spend before the invoice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61848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usage, set limits, and catch overruns early.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91056" y="197510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tokens &amp; cost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91056" y="228600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provider and connection consumed what.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34656" y="197510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with alerts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34656" y="228600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token/cost limits per project or member, with alert thresholds.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685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91056" y="364845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3959352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this month, all-time — spot spikes as they happen.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3410712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766560" y="3685032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766560" y="3685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4656" y="364845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BYOK, encrypted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34656" y="3959352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keys; envelope-encrypted at rest, never echoed back.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48640" y="4983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48640" y="5687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456432" y="4983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3456432" y="5687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64224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364224" y="4983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364224" y="5687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modes: push &amp; pull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72016" y="48920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0E152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272016" y="4983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272016" y="5687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keys, encrypted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locally. Observed centrally.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559052" y="2670048"/>
            <a:ext cx="768096" cy="7680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559052" y="26700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hooks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913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Guard, scan &amp; sample on every action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30632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530852" y="2670048"/>
            <a:ext cx="768096" cy="7680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30852" y="26700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4760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telemetry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3913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+ usage in .harness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5352" y="30632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6294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502652" y="2670048"/>
            <a:ext cx="768096" cy="7680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02652" y="26700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3913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transcripts, then pushed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17152" y="30632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01200" y="23774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6213B"/>
          </a:solidFill>
          <a:ln w="12700">
            <a:solidFill>
              <a:srgbClr val="2432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0474452" y="2670048"/>
            <a:ext cx="768096" cy="76809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474452" y="26700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38360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Portal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0" y="3913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incidents, budgets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5074920"/>
            <a:ext cx="10789920" cy="640080"/>
          </a:xfrm>
          <a:prstGeom prst="roundRect">
            <a:avLst>
              <a:gd name="adj" fmla="val 14286"/>
            </a:avLst>
          </a:prstGeom>
          <a:solidFill>
            <a:srgbClr val="ECFDF9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hooks are defense-in-depth; the true security boundary is enforced server-side at the gateway.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whether your code runs on a server or a laptop.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TRUST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on honest, enforceable principles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211226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reference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91056" y="242316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policy, runtime, evaluation, audit — a 7-layer model, not a bag of scripts.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78308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4656" y="211226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not hardcode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34656" y="242316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live in schema-validated YAML/JSON you can review and change without touching code.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412394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by design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91056" y="443484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hash chain means the audit trail cannot be quietly rewritten.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79476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AA6B8">
                <a:alpha val="3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766560" y="416052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7665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34656" y="412394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safety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34656" y="4434840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67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label what a local hook can and cannot guarantee — and where server-side enforcement is required.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weakest layer sets the ceiling — so we make every layer count.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291840"/>
            <a:ext cx="4937760" cy="4937760"/>
          </a:xfrm>
          <a:prstGeom prst="ellipse">
            <a:avLst/>
          </a:prstGeom>
          <a:solidFill>
            <a:srgbClr val="1621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784080" y="640080"/>
            <a:ext cx="1737360" cy="17373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784080" y="6400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governing your AI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afternoon.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standard-governance bundle into a project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the Control Portal with one key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security, data and token metrics light 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Harness  ·  standard-governance v1.2.4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  ·  Easy to adopt  ·  Fully observable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E9AD5-AA90-4EF7-5035-668965B7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BEFB4B-FA47-FCA5-0704-807F330BAE94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525260-19AB-80DD-11D5-D056FBB0ADC8}"/>
              </a:ext>
            </a:extLst>
          </p:cNvPr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Public Harness-</a:t>
            </a:r>
            <a:r>
              <a:rPr lang="en-US" sz="2800" b="1" dirty="0" err="1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install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F3BDBD21-50B3-188D-1652-7C06F5FA4223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https://github.com/manhds82/Harness-ToolKIT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AA65791D-D590-659B-6127-5D2072C74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469" y="1687226"/>
            <a:ext cx="3564117" cy="49323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8969EA4-FCD7-8B8D-4ACF-DDDE0EEAD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469" y="1687226"/>
            <a:ext cx="3564117" cy="49213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24CE5909-98BF-B1DA-BD28-CB4367D35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694375"/>
            <a:ext cx="3782946" cy="49213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4860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8E4D0-EFBA-BBD9-D109-0BD8B5B9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FEBA0-48B5-0552-20FF-C63FAB266FF1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297FDC-C405-EA3A-AAC6-947AB0516FE4}"/>
              </a:ext>
            </a:extLst>
          </p:cNvPr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 install and copy rule/harness into old/new project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F9CE5224-AA47-83D8-9971-94427E9A79F3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7E5F8C6-7D6F-1BB9-C838-387FD001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724" y="1417321"/>
            <a:ext cx="5168712" cy="29611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B7608AD-A75F-F50C-364B-4917BA0CF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724" y="4541695"/>
            <a:ext cx="5168712" cy="20244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64F2BE2-708D-6102-A108-A99AD694E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92" y="1417320"/>
            <a:ext cx="5293619" cy="514878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39399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B6AD7-281C-0224-F0A9-5D0EE9E7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4507CD-1AE9-4F3F-2D52-F77B93C3A601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766406-53E9-BB95-96A5-FD47058B1377}"/>
              </a:ext>
            </a:extLst>
          </p:cNvPr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(1/7)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217E25DD-E5C8-71A1-ECCE-EEFE06539484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8D13DF3-B83A-5AAF-43A2-1E7A8501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43" y="1311178"/>
            <a:ext cx="9376114" cy="54208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1505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AA49E-A0D3-D254-5758-E0F58C4B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3F33D2-55E0-591F-FC8D-CB271C9C4A92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E4DA84-46BC-5597-4BEA-5B279BCB6D95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(2/7)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F12DAB2B-B090-B62A-021D-5BB5F62D76B4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A90A4BA-D9A7-F2DB-5672-FC2181B1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321" y="1030168"/>
            <a:ext cx="9469358" cy="550917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82841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F429D-1028-279B-F3E8-FBDE7EA5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91DEDD-C4C4-A311-9505-8DD0B01474EF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1BB7D2-B970-019F-F224-F541430F2F81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(3/7)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17485910-3FA8-3EC1-E7A5-9FA699940FB5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CB2231-1E9D-D98F-EC8C-9C3B63C9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854" y="1075575"/>
            <a:ext cx="9116291" cy="56840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38159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06AA6-00A5-038A-933D-69760AC4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792CE7-E985-793B-9F81-B0EA9C5F6EF9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675D03-2F6A-4D8E-A4DA-D0C2E4C6905F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(4/7)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67618866-D2BA-3A45-63BE-7C54FE72848B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78020A-6DE7-D64F-7DCF-BCE00D4F6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854" y="1075575"/>
            <a:ext cx="9116291" cy="56840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53096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2C4BA-3E9C-D9A1-C66D-D359E3B0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FC593D-4A8C-136B-5C57-C4932A87D452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007701-A7ED-D6E6-3E7C-02FD19F44B3A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(5/7)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07CC4AD0-7CF7-90B7-C88D-44628D160E87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2770624-21D5-FC4D-A68C-A5E971AE1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27" y="1100128"/>
            <a:ext cx="10039927" cy="34951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8F6181F-6128-1DD4-E389-E84D71802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247" y="3479760"/>
            <a:ext cx="8358840" cy="29427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65739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8C536-DF20-E5BC-1D67-A6F610A2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5688BB-F9EF-C450-5078-6DE1FEE9971D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E7D0CC-59B7-33BF-0C03-1436AC39E388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(6/7)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BE4F5B19-64C1-B99E-A62A-B8537E6EF756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02B7DCF-FC05-AB0B-BC57-D4EF35C13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38" y="1075575"/>
            <a:ext cx="7075894" cy="5600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9F707D4-6F0D-4DF6-8093-2B9251E66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106" y="3926314"/>
            <a:ext cx="8600739" cy="28306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621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2C368-2282-7DAC-7CCD-627B5A61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9C747-FB3F-EEAA-32C5-EF92313B46EA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8B9237-6906-77F1-DD18-178BE47D4DDC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Portal for control project data (7/7)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B4F79116-5FB8-2AA8-3F76-CDD05839C01E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C17AB82-E118-92DC-8E5F-48D727E82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" y="1075575"/>
            <a:ext cx="7925720" cy="3598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F810763-C878-FEC0-01BE-107D40F33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54" y="3388234"/>
            <a:ext cx="8229600" cy="32507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81807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1DAAD-88D2-0BA0-6FA4-5BE328B0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6306DC-CC8D-0CAE-484B-79867675F315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6AE1C5-DFB0-55A7-AD64-D6DE5D1687A9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 Harness Level </a:t>
            </a:r>
            <a:r>
              <a:rPr lang="en-US" sz="2800" b="1" dirty="0" err="1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Avaluate</a:t>
            </a: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portal (1/4)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D4D2C29E-E135-746C-AF64-EDC087F6A873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172B68-8457-D313-AFE7-CF1655F1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31" y="1075575"/>
            <a:ext cx="9484770" cy="568035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50050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591EF-F049-42B3-7E3A-060589A92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44F251-E41B-4CDA-EC43-6F5EA9B6B06B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519CD8-C928-D1BA-D3F8-4EFC3E8E2F30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 Harness Level </a:t>
            </a:r>
            <a:r>
              <a:rPr lang="en-US" sz="2800" b="1" dirty="0" err="1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Avaluate</a:t>
            </a: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portal (1/4)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B2AE42A8-93DA-6B61-1CD8-986071EAAC79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DBE161F-3F04-26C7-06E6-C0533E0F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77" y="1123628"/>
            <a:ext cx="9640645" cy="46107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80791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DC61C-78E1-CE90-C520-E2F7283C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5D39D4-561F-51B6-3BFE-46A91CD79C0D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33875A-28BF-3F0C-C4AE-1A1CDE07820D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 Harness Level </a:t>
            </a:r>
            <a:r>
              <a:rPr lang="en-US" sz="2800" b="1" dirty="0" err="1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Avaluate</a:t>
            </a: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portal (1/4)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CAE932C6-79DB-F08C-CA3D-E140581D2812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295B32-0CC5-FDDF-AB02-9C2C38337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97" y="1075575"/>
            <a:ext cx="8724405" cy="55055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1916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5AAF3-6B2E-FAB6-9547-D35DC83B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2FB51D-E369-F419-C3EC-42AE223FBDB4}"/>
              </a:ext>
            </a:extLst>
          </p:cNvPr>
          <p:cNvSpPr/>
          <p:nvPr/>
        </p:nvSpPr>
        <p:spPr>
          <a:xfrm>
            <a:off x="548640" y="1611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/>
              <a:t>Apendix</a:t>
            </a:r>
            <a:r>
              <a:rPr lang="en-US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718581-30B9-BFB0-BB75-1368BB283675}"/>
              </a:ext>
            </a:extLst>
          </p:cNvPr>
          <p:cNvSpPr/>
          <p:nvPr/>
        </p:nvSpPr>
        <p:spPr>
          <a:xfrm>
            <a:off x="548640" y="435495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 Harness Level </a:t>
            </a:r>
            <a:r>
              <a:rPr lang="en-US" sz="2800" b="1" dirty="0" err="1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Avaluate</a:t>
            </a:r>
            <a:r>
              <a:rPr lang="en-US" sz="28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portal (4/4)</a:t>
            </a:r>
            <a:endParaRPr lang="en-US" sz="28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C13819E9-AFC0-F033-41EB-A2AACFD957AA}"/>
              </a:ext>
            </a:extLst>
          </p:cNvPr>
          <p:cNvSpPr/>
          <p:nvPr/>
        </p:nvSpPr>
        <p:spPr>
          <a:xfrm>
            <a:off x="548640" y="131117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7280D3E-D490-A3C0-C8CA-41B6C7A85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863" y="2705751"/>
            <a:ext cx="6696754" cy="40626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BF53A88-D2AE-779F-3700-107E37523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92" y="1003449"/>
            <a:ext cx="6696754" cy="52999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08413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1144</Words>
  <Application>Microsoft Office PowerPoint</Application>
  <PresentationFormat>ワイド画面</PresentationFormat>
  <Paragraphs>222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AI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Dau Sy Manh</dc:creator>
  <cp:lastModifiedBy>Manh Dau Sy</cp:lastModifiedBy>
  <cp:revision>16</cp:revision>
  <dcterms:created xsi:type="dcterms:W3CDTF">2026-07-18T04:57:08Z</dcterms:created>
  <dcterms:modified xsi:type="dcterms:W3CDTF">2026-07-20T06:33:06Z</dcterms:modified>
</cp:coreProperties>
</file>